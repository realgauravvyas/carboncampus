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singhmandavi002@gmail.com" TargetMode="External"/><Relationship Id="rId2" Type="http://schemas.openxmlformats.org/officeDocument/2006/relationships/hyperlink" Target="mailto:gaurav.vyas.1729@gmail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realgauravvyas.github.io/carboncampus/" TargetMode="External"/><Relationship Id="rId4" Type="http://schemas.openxmlformats.org/officeDocument/2006/relationships/hyperlink" Target="https://github.com/realgauravvyas/carboncampu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463040" cy="6400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B80D"/>
                </a:solidFill>
                <a:latin typeface="Segoe UI"/>
              </a:rPr>
              <a:t>AVINYA 2026 — PRAKRITI ECOINNOVATE CHALLENGE  |  ROUND 1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789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CarbonCampus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Urban Carbon Footprint Calculator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C8E6D5"/>
                </a:solidFill>
                <a:latin typeface="Segoe UI"/>
              </a:rPr>
              <a:t>A lightweight, campus-tailored digital tool that turns daily habits into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C8E6D5"/>
                </a:solidFill>
                <a:latin typeface="Segoe UI"/>
              </a:rPr>
              <a:t>personal emissions insights and automated reduction strategies.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903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dirty="0">
                <a:solidFill>
                  <a:srgbClr val="9FC4B2"/>
                </a:solidFill>
                <a:latin typeface="Segoe UI"/>
              </a:rPr>
              <a:t>Problem Statement: Urban Carbon Footprint Calculator (Software &amp; Web Development)</a:t>
            </a:r>
          </a:p>
          <a:p>
            <a:pPr>
              <a:lnSpc>
                <a:spcPct val="130000"/>
              </a:lnSpc>
            </a:pPr>
            <a:r>
              <a:rPr sz="1400" b="0" dirty="0">
                <a:solidFill>
                  <a:srgbClr val="9FC4B2"/>
                </a:solidFill>
                <a:latin typeface="Segoe UI"/>
              </a:rPr>
              <a:t>Team Name: </a:t>
            </a:r>
            <a:r>
              <a:rPr lang="en-US" sz="1400" b="0" dirty="0" err="1">
                <a:solidFill>
                  <a:srgbClr val="9FC4B2"/>
                </a:solidFill>
                <a:latin typeface="Segoe UI"/>
              </a:rPr>
              <a:t>EcoGenesis</a:t>
            </a:r>
            <a:r>
              <a:rPr sz="1400" b="0" dirty="0">
                <a:solidFill>
                  <a:srgbClr val="9FC4B2"/>
                </a:solidFill>
                <a:latin typeface="Segoe UI"/>
              </a:rPr>
              <a:t>   •   Members: </a:t>
            </a:r>
            <a:r>
              <a:rPr lang="en-US" sz="1400" dirty="0">
                <a:solidFill>
                  <a:srgbClr val="9FC4B2"/>
                </a:solidFill>
                <a:latin typeface="Segoe UI"/>
              </a:rPr>
              <a:t>Gaurav Vyas</a:t>
            </a:r>
            <a:r>
              <a:rPr sz="1400" b="0" dirty="0">
                <a:solidFill>
                  <a:srgbClr val="9FC4B2"/>
                </a:solidFill>
                <a:latin typeface="Segoe UI"/>
              </a:rPr>
              <a:t>, </a:t>
            </a:r>
            <a:r>
              <a:rPr lang="en-US" sz="1400" b="0" dirty="0">
                <a:solidFill>
                  <a:srgbClr val="9FC4B2"/>
                </a:solidFill>
                <a:latin typeface="Segoe UI"/>
              </a:rPr>
              <a:t>Mandavi Singh</a:t>
            </a:r>
            <a:endParaRPr sz="1400" b="0" dirty="0">
              <a:solidFill>
                <a:srgbClr val="9FC4B2"/>
              </a:solidFill>
              <a:latin typeface="Segoe UI"/>
            </a:endParaRPr>
          </a:p>
          <a:p>
            <a:pPr algn="l">
              <a:lnSpc>
                <a:spcPct val="130000"/>
              </a:lnSpc>
            </a:pPr>
            <a:r>
              <a:rPr sz="1400" b="0" dirty="0">
                <a:solidFill>
                  <a:srgbClr val="9FC4B2"/>
                </a:solidFill>
                <a:latin typeface="Segoe UI"/>
              </a:rPr>
              <a:t>Institution: </a:t>
            </a:r>
            <a:r>
              <a:rPr lang="en-US" sz="1400" dirty="0">
                <a:solidFill>
                  <a:srgbClr val="9FC4B2"/>
                </a:solidFill>
                <a:latin typeface="Segoe UI"/>
              </a:rPr>
              <a:t>IIT Guwahati</a:t>
            </a:r>
            <a:endParaRPr sz="1400" b="0" dirty="0">
              <a:solidFill>
                <a:srgbClr val="9FC4B2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8E5A"/>
                </a:solidFill>
                <a:latin typeface="Segoe UI"/>
              </a:rPr>
              <a:t>PROBLEM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3D2E"/>
                </a:solidFill>
                <a:latin typeface="Segoe UI"/>
              </a:rPr>
              <a:t>The Problem We Are Solving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1E8E5A"/>
                </a:solidFill>
                <a:latin typeface="Segoe UI"/>
              </a:rPr>
              <a:t>•  </a:t>
            </a:r>
            <a:r>
              <a:rPr sz="1700" b="1">
                <a:solidFill>
                  <a:srgbClr val="0B3D2E"/>
                </a:solidFill>
                <a:latin typeface="Segoe UI"/>
              </a:rPr>
              <a:t>Campuses are emission hotspots: — </a:t>
            </a:r>
            <a:r>
              <a:rPr sz="1700">
                <a:solidFill>
                  <a:srgbClr val="333333"/>
                </a:solidFill>
                <a:latin typeface="Segoe UI"/>
              </a:rPr>
              <a:t>universities generate significant GHG emissions through commuting, hostel energy use, canteen food, labs and waste disposal.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1E8E5A"/>
                </a:solidFill>
                <a:latin typeface="Segoe UI"/>
              </a:rPr>
              <a:t>•  </a:t>
            </a:r>
            <a:r>
              <a:rPr sz="1700" b="1">
                <a:solidFill>
                  <a:srgbClr val="0B3D2E"/>
                </a:solidFill>
                <a:latin typeface="Segoe UI"/>
              </a:rPr>
              <a:t>Quantification is the first step: — </a:t>
            </a:r>
            <a:r>
              <a:rPr sz="1700">
                <a:solidFill>
                  <a:srgbClr val="333333"/>
                </a:solidFill>
                <a:latin typeface="Segoe UI"/>
              </a:rPr>
              <a:t>you cannot reduce what you do not measure — but most individuals have no idea what their personal footprint actually is.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1E8E5A"/>
                </a:solidFill>
                <a:latin typeface="Segoe UI"/>
              </a:rPr>
              <a:t>•  </a:t>
            </a:r>
            <a:r>
              <a:rPr sz="1700" b="1">
                <a:solidFill>
                  <a:srgbClr val="0B3D2E"/>
                </a:solidFill>
                <a:latin typeface="Segoe UI"/>
              </a:rPr>
              <a:t>Existing tools are generic: — </a:t>
            </a:r>
            <a:r>
              <a:rPr sz="1700">
                <a:solidFill>
                  <a:srgbClr val="333333"/>
                </a:solidFill>
                <a:latin typeface="Segoe UI"/>
              </a:rPr>
              <a:t>global calculators give broad numbers without campus-specific context (local grid mix, mess menu, shuttle routes, campus waste practices).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1E8E5A"/>
                </a:solidFill>
                <a:latin typeface="Segoe UI"/>
              </a:rPr>
              <a:t>•  </a:t>
            </a:r>
            <a:r>
              <a:rPr sz="1700" b="1">
                <a:solidFill>
                  <a:srgbClr val="0B3D2E"/>
                </a:solidFill>
                <a:latin typeface="Segoe UI"/>
              </a:rPr>
              <a:t>Awareness does not become action: — </a:t>
            </a:r>
            <a:r>
              <a:rPr sz="1700">
                <a:solidFill>
                  <a:srgbClr val="333333"/>
                </a:solidFill>
                <a:latin typeface="Segoe UI"/>
              </a:rPr>
              <a:t>one-time calculators stop at a number; they do not nudge sustained behavior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029200"/>
            <a:ext cx="10607040" cy="118872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513892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3D2E"/>
                </a:solidFill>
                <a:latin typeface="Segoe UI"/>
              </a:rPr>
              <a:t>Our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5321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Behavior changes when impact is personal, local, continuous and social. A campus-first tool with localized emission factors, habit tracking and peer engagement converts awareness into measurable, sustained emissions reduction.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8E5A"/>
                </a:solidFill>
                <a:latin typeface="Segoe UI"/>
              </a:rPr>
              <a:t>MAPPING TO THE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3D2E"/>
                </a:solidFill>
                <a:latin typeface="Segoe UI"/>
              </a:rPr>
              <a:t>Objectives &amp; Goal Alignment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2651760" cy="132588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Objective (from 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645920"/>
            <a:ext cx="75895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333333"/>
                </a:solidFill>
                <a:latin typeface="Segoe UI"/>
              </a:rPr>
              <a:t>Build a lightweight, interactive digital tool tailored for university campuses that lets individuals input daily habits, visualize their carbon footprint, and receive automated reduction strategies.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08960"/>
            <a:ext cx="2651760" cy="132588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Goal (from 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200400"/>
            <a:ext cx="75895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333333"/>
                </a:solidFill>
                <a:latin typeface="Segoe UI"/>
              </a:rPr>
              <a:t>Empower students and faculty with clear, data-driven insights about personal environmental impact, fostering a culture of sustainability and actionable behavioral change across campus.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63440"/>
            <a:ext cx="2651760" cy="132588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98348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How CarbonCampus delivers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754880"/>
            <a:ext cx="75895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333333"/>
                </a:solidFill>
                <a:latin typeface="Segoe UI"/>
              </a:rPr>
              <a:t>Activity-based inputs (transport, energy, food, waste) x campus-calibrated emission factors = live footprint dashboard + personalized, automated action plans + hostel/department leaderboards for positive peer pressure.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8E5A"/>
                </a:solidFill>
                <a:latin typeface="Segoe UI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3D2E"/>
                </a:solidFill>
                <a:latin typeface="Segoe UI"/>
              </a:rPr>
              <a:t>CarbonCampus — Solution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33333"/>
                </a:solidFill>
                <a:latin typeface="Segoe UI"/>
              </a:rPr>
              <a:t>CarbonCampus is a Progressive Web App (PWA) — installable, mobile-first, works on low-end devices and poor networks. Three core loops: MEASURE, UNDERSTAND, 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3520440" cy="329184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62432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3D2E"/>
                </a:solidFill>
                <a:latin typeface="Segoe UI"/>
              </a:rPr>
              <a:t>1. 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3154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33333"/>
                </a:solidFill>
                <a:latin typeface="Segoe UI"/>
              </a:rPr>
              <a:t>Quick daily/weekly habit log: commute mode &amp; distance, electricity &amp; device usage, mess/food choices, single-use plastic and waste. QR-based check-ins for campus shuttles and events. Under 60 seconds per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14600"/>
            <a:ext cx="3520440" cy="329184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62432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3D2E"/>
                </a:solidFill>
                <a:latin typeface="Segoe UI"/>
              </a:rPr>
              <a:t>2. 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017520"/>
            <a:ext cx="3154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33333"/>
                </a:solidFill>
                <a:latin typeface="Segoe UI"/>
              </a:rPr>
              <a:t>Real-time personal dashboard: total kg CO2e, category-wise breakdown, trend lines, equivalents (trees, km driven), and comparison with campus average and peer cohort.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514600"/>
            <a:ext cx="3520440" cy="329184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262432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3D2E"/>
                </a:solidFill>
                <a:latin typeface="Segoe UI"/>
              </a:rPr>
              <a:t>3.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17520"/>
            <a:ext cx="3154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33333"/>
                </a:solidFill>
                <a:latin typeface="Segoe UI"/>
              </a:rPr>
              <a:t>Automated, personalized reduction strategies ranked by impact and effort (e.g., switch 2 trips/week to shuttle = -18 kg CO2e/month), weekly nudges, and challenge badges.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350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5A6B63"/>
                </a:solidFill>
                <a:latin typeface="Segoe UI"/>
              </a:rPr>
              <a:t>Gamification layer: hostel &amp; department leaderboards, green points redeemable for campus perks, monthly campus emission report for administration.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8E5A"/>
                </a:solidFill>
                <a:latin typeface="Segoe UI"/>
              </a:rPr>
              <a:t>WHAT MAKES IT CLICK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3D2E"/>
                </a:solidFill>
                <a:latin typeface="Segoe UI"/>
              </a:rPr>
              <a:t>Key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5303520" cy="1207008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3D2E"/>
                </a:solidFill>
                <a:latin typeface="Segoe UI"/>
              </a:rPr>
              <a:t>Campus-Calibrated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937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33333"/>
                </a:solidFill>
                <a:latin typeface="Segoe UI"/>
              </a:rPr>
              <a:t>Emission factors tuned to the campus: local grid emission factor (CEA CO2 Baseline Database), mess menu, shuttle fleet, hostel electricity profiles.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03520" cy="1207008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1848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3D2E"/>
                </a:solidFill>
                <a:latin typeface="Segoe UI"/>
              </a:rPr>
              <a:t>Smart Activity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937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33333"/>
                </a:solidFill>
                <a:latin typeface="Segoe UI"/>
              </a:rPr>
              <a:t>Preset campus templates (hostel day, class day), GPS-assisted trip detection, and one-tap repeat habits — logging in under a minute.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843784"/>
            <a:ext cx="5303520" cy="1207008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95351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3D2E"/>
                </a:solidFill>
                <a:latin typeface="Segoe UI"/>
              </a:rPr>
              <a:t>Personalized Action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46704"/>
            <a:ext cx="4937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33333"/>
                </a:solidFill>
                <a:latin typeface="Segoe UI"/>
              </a:rPr>
              <a:t>Rule-based recommendation engine surfaces the top 3 highest-impact swaps per user, updated weekly as habits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43784"/>
            <a:ext cx="5303520" cy="1207008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95351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3D2E"/>
                </a:solidFill>
                <a:latin typeface="Segoe UI"/>
              </a:rPr>
              <a:t>Visualization That Persuades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46704"/>
            <a:ext cx="4937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33333"/>
                </a:solidFill>
                <a:latin typeface="Segoe UI"/>
              </a:rPr>
              <a:t>CO2e equivalents (trees grown, phone charges, km cycled), category treemaps, trend sparklines, hostel heatmaps.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78808"/>
            <a:ext cx="5303520" cy="1207008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288536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3D2E"/>
                </a:solidFill>
                <a:latin typeface="Segoe UI"/>
              </a:rPr>
              <a:t>Challenges &amp; Leaderboards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81728"/>
            <a:ext cx="4937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33333"/>
                </a:solidFill>
                <a:latin typeface="Segoe UI"/>
              </a:rPr>
              <a:t>Hostel vs hostel leagues, 7-day low-carbon streaks, event-specific challenges (e.g., Techniche green week).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78808"/>
            <a:ext cx="5303520" cy="1207008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288536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3D2E"/>
                </a:solidFill>
                <a:latin typeface="Segoe UI"/>
              </a:rPr>
              <a:t>Admin Analytics Portal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81728"/>
            <a:ext cx="4937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33333"/>
                </a:solidFill>
                <a:latin typeface="Segoe UI"/>
              </a:rPr>
              <a:t>Aggregated, anonymized campus emission inventory: mobility, energy, food, waste — feeding the institute's sustainability reporting (ISO 14064-1 aligned).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513832"/>
            <a:ext cx="5303520" cy="1207008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6235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3D2E"/>
                </a:solidFill>
                <a:latin typeface="Segoe UI"/>
              </a:rPr>
              <a:t>Offline-First PWA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016752"/>
            <a:ext cx="4937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33333"/>
                </a:solidFill>
                <a:latin typeface="Segoe UI"/>
              </a:rPr>
              <a:t>Cached logging and dashboards work offline; syncs when connected. Lightweight (&lt;2 MB app shell).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513832"/>
            <a:ext cx="5303520" cy="1207008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56235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3D2E"/>
                </a:solidFill>
                <a:latin typeface="Segoe UI"/>
              </a:rPr>
              <a:t>Privacy By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016752"/>
            <a:ext cx="4937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33333"/>
                </a:solidFill>
                <a:latin typeface="Segoe UI"/>
              </a:rPr>
              <a:t>No precise location stored; individual data anonymized in all aggregate views; minimal permissions.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8E5A"/>
                </a:solidFill>
                <a:latin typeface="Segoe UI"/>
              </a:rPr>
              <a:t>HOW EMISSIONS ARE ESTIMATED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3D2E"/>
                </a:solidFill>
                <a:latin typeface="Segoe UI"/>
              </a:rPr>
              <a:t>Calculation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3333"/>
                </a:solidFill>
                <a:latin typeface="Segoe UI"/>
              </a:rPr>
              <a:t>Emissions (kg CO2e) = Activity Data x Emission Factor (source-calibrated). Four campus-relevant scopes: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148840"/>
          <a:ext cx="106070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marL="109728" marR="109728"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User Inputs</a:t>
                      </a:r>
                    </a:p>
                  </a:txBody>
                  <a:tcPr marL="109728" marR="109728"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Emission Factor Source</a:t>
                      </a:r>
                    </a:p>
                  </a:txBody>
                  <a:tcPr marL="109728" marR="109728">
                    <a:solidFill>
                      <a:srgbClr val="0B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Segoe UI"/>
                        </a:rPr>
                        <a:t>Transport</a:t>
                      </a:r>
                    </a:p>
                  </a:txBody>
                  <a:tcPr marL="109728" marR="109728"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Segoe UI"/>
                        </a:rPr>
                        <a:t>Mode (walk/cycle/shuttle/bike/car/bus/auto), distance, frequency</a:t>
                      </a:r>
                    </a:p>
                  </a:txBody>
                  <a:tcPr marL="109728" marR="109728"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Segoe UI"/>
                        </a:rPr>
                        <a:t>MoRTH fuel economy data; CEA; DEF rail/bus factors; EV grid factor</a:t>
                      </a:r>
                    </a:p>
                  </a:txBody>
                  <a:tcPr marL="109728" marR="109728">
                    <a:solidFill>
                      <a:srgbClr val="EA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Segoe UI"/>
                        </a:rPr>
                        <a:t>Energy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Segoe UI"/>
                        </a:rPr>
                        <a:t>Hostel/lab/device usage hours, appliance type, AC usage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Segoe UI"/>
                        </a:rPr>
                        <a:t>Regional grid emission factor (CEA CO2 Baseline Database, updated yearly)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Segoe UI"/>
                        </a:rPr>
                        <a:t>Food</a:t>
                      </a:r>
                    </a:p>
                  </a:txBody>
                  <a:tcPr marL="109728" marR="109728"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Segoe UI"/>
                        </a:rPr>
                        <a:t>Mess meals (veg/non-veg), outside food frequency, food waste level</a:t>
                      </a:r>
                    </a:p>
                  </a:txBody>
                  <a:tcPr marL="109728" marR="109728"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Segoe UI"/>
                        </a:rPr>
                        <a:t>Published LCA datasets (Poore &amp; Nemecek 2018, Science); Indian meal factors</a:t>
                      </a:r>
                    </a:p>
                  </a:txBody>
                  <a:tcPr marL="109728" marR="109728">
                    <a:solidFill>
                      <a:srgbClr val="EA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Segoe UI"/>
                        </a:rPr>
                        <a:t>Waste &amp; Consumption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Segoe UI"/>
                        </a:rPr>
                        <a:t>Single-use plastics, paper, e-waste, packaging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Segoe UI"/>
                        </a:rPr>
                        <a:t>CPCB waste emission factors; EPA WARM model equivalents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44068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B63"/>
                </a:solidFill>
                <a:latin typeface="Segoe UI"/>
              </a:rPr>
              <a:t>Validation approach: pilot with one hostel, cross-check aggregate estimates against institute electricity/transport bills; uncertainty bounds shown to users; factors versioned and auditable in-app.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8E5A"/>
                </a:solidFill>
                <a:latin typeface="Segoe UI"/>
              </a:rPr>
              <a:t>TECHNICAL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3D2E"/>
                </a:solidFill>
                <a:latin typeface="Segoe UI"/>
              </a:rPr>
              <a:t>Technical Architecture &amp;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303520" cy="141732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Frontend (PWA)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3333"/>
                </a:solidFill>
                <a:latin typeface="Segoe UI"/>
              </a:rPr>
              <a:t>React + TypeScript, Recharts for visualization, IndexedDB for offline logging. Mobile-first, &lt;2 MB shell, installable, works in campus browsers.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141732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6420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Backend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3333"/>
                </a:solidFill>
                <a:latin typeface="Segoe UI"/>
              </a:rPr>
              <a:t>Node.js (Express/Fastify) REST API: auth (campus SSO / email OTP), habit logs, emission engine, recommendations, leaderboards. Stateless and containerized.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36392"/>
            <a:ext cx="5303520" cy="141732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2461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Emission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39312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3333"/>
                </a:solidFill>
                <a:latin typeface="Segoe UI"/>
              </a:rPr>
              <a:t>Versioned emission-factor service: EF = f(activity, campus, year). All factors stored as auditable JSON/DB records with source citations; pluggable per campus.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36392"/>
            <a:ext cx="5303520" cy="141732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39312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3333"/>
                </a:solidFill>
                <a:latin typeface="Segoe UI"/>
              </a:rPr>
              <a:t>PostgreSQL: users, logs, factors, teams; Redis: leaderboards &amp; caching. Aggregations pre-computed nightly for dashboards.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18304"/>
            <a:ext cx="5303520" cy="141732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82803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Analytics &amp;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21224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3333"/>
                </a:solidFill>
                <a:latin typeface="Segoe UI"/>
              </a:rPr>
              <a:t>Nightly batch jobs (trend analytics, recommendation refresh, campus reports); email/in-app nudges; admin report generator (PDF/CSV).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718304"/>
            <a:ext cx="5303520" cy="141732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82803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Hosting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221224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3333"/>
                </a:solidFill>
                <a:latin typeface="Segoe UI"/>
              </a:rPr>
              <a:t>Dockerized; free-tier/low-cost deployable (Render/Fly.io + managed Postgres). Designed to later move to institute servers for zero hosting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8E5A"/>
                </a:solidFill>
                <a:latin typeface="Segoe UI"/>
              </a:rPr>
              <a:t>FROM SIGN-UP TO SUSTAINED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3D2E"/>
                </a:solidFill>
                <a:latin typeface="Segoe UI"/>
              </a:rPr>
              <a:t>User Journey</a:t>
            </a:r>
          </a:p>
        </p:txBody>
      </p:sp>
      <p:sp>
        <p:nvSpPr>
          <p:cNvPr id="7" name="Oval 6"/>
          <p:cNvSpPr/>
          <p:nvPr/>
        </p:nvSpPr>
        <p:spPr>
          <a:xfrm>
            <a:off x="1225296" y="1828800"/>
            <a:ext cx="585216" cy="585216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8568" y="2075688"/>
            <a:ext cx="109728" cy="73152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2651760"/>
            <a:ext cx="1481328" cy="228600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1155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3D2E"/>
                </a:solidFill>
                <a:latin typeface="Segoe UI"/>
              </a:rPr>
              <a:t>Onboard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54680"/>
            <a:ext cx="111556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333333"/>
                </a:solidFill>
                <a:latin typeface="Segoe UI"/>
              </a:rPr>
              <a:t>Sign in with campus email; pick hostel, department, year.</a:t>
            </a:r>
          </a:p>
        </p:txBody>
      </p:sp>
      <p:sp>
        <p:nvSpPr>
          <p:cNvPr id="12" name="Oval 11"/>
          <p:cNvSpPr/>
          <p:nvPr/>
        </p:nvSpPr>
        <p:spPr>
          <a:xfrm>
            <a:off x="2816352" y="1828800"/>
            <a:ext cx="585216" cy="585216"/>
          </a:xfrm>
          <a:prstGeom prst="ellipse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9624" y="2075688"/>
            <a:ext cx="109728" cy="73152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368296" y="2651760"/>
            <a:ext cx="1481328" cy="228600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51176" y="2761488"/>
            <a:ext cx="11155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3D2E"/>
                </a:solidFill>
                <a:latin typeface="Segoe UI"/>
              </a:rPr>
              <a:t>Baseline Quiz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176" y="3154680"/>
            <a:ext cx="111556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333333"/>
                </a:solidFill>
                <a:latin typeface="Segoe UI"/>
              </a:rPr>
              <a:t>One-time 2-minute quiz sets the personal baseline footprint.</a:t>
            </a:r>
          </a:p>
        </p:txBody>
      </p:sp>
      <p:sp>
        <p:nvSpPr>
          <p:cNvPr id="17" name="Oval 16"/>
          <p:cNvSpPr/>
          <p:nvPr/>
        </p:nvSpPr>
        <p:spPr>
          <a:xfrm>
            <a:off x="4407408" y="1828800"/>
            <a:ext cx="585216" cy="585216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075688"/>
            <a:ext cx="109728" cy="73152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959352" y="2651760"/>
            <a:ext cx="1481328" cy="228600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42232" y="2761488"/>
            <a:ext cx="11155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3D2E"/>
                </a:solidFill>
                <a:latin typeface="Segoe UI"/>
              </a:rPr>
              <a:t>Daily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2" y="3154680"/>
            <a:ext cx="111556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333333"/>
                </a:solidFill>
                <a:latin typeface="Segoe UI"/>
              </a:rPr>
              <a:t>Under 60s habit log; templates auto-fill repeating patterns.</a:t>
            </a:r>
          </a:p>
        </p:txBody>
      </p:sp>
      <p:sp>
        <p:nvSpPr>
          <p:cNvPr id="22" name="Oval 21"/>
          <p:cNvSpPr/>
          <p:nvPr/>
        </p:nvSpPr>
        <p:spPr>
          <a:xfrm>
            <a:off x="5998464" y="1828800"/>
            <a:ext cx="585216" cy="585216"/>
          </a:xfrm>
          <a:prstGeom prst="ellipse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31736" y="2075688"/>
            <a:ext cx="109728" cy="73152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550408" y="2651760"/>
            <a:ext cx="1481328" cy="228600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33288" y="2761488"/>
            <a:ext cx="11155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3D2E"/>
                </a:solidFill>
                <a:latin typeface="Segoe UI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3154680"/>
            <a:ext cx="111556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333333"/>
                </a:solidFill>
                <a:latin typeface="Segoe UI"/>
              </a:rPr>
              <a:t>See live CO2e, breakdown, equivalents vs campus average.</a:t>
            </a:r>
          </a:p>
        </p:txBody>
      </p:sp>
      <p:sp>
        <p:nvSpPr>
          <p:cNvPr id="27" name="Oval 26"/>
          <p:cNvSpPr/>
          <p:nvPr/>
        </p:nvSpPr>
        <p:spPr>
          <a:xfrm>
            <a:off x="7589520" y="1828800"/>
            <a:ext cx="585216" cy="585216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22792" y="2075688"/>
            <a:ext cx="109728" cy="73152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141464" y="2651760"/>
            <a:ext cx="1481328" cy="228600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24344" y="2761488"/>
            <a:ext cx="11155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3D2E"/>
                </a:solidFill>
                <a:latin typeface="Segoe UI"/>
              </a:rPr>
              <a:t>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4344" y="3154680"/>
            <a:ext cx="111556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333333"/>
                </a:solidFill>
                <a:latin typeface="Segoe UI"/>
              </a:rPr>
              <a:t>Get top-3 weekly swaps; accept challenges; earn green points.</a:t>
            </a:r>
          </a:p>
        </p:txBody>
      </p:sp>
      <p:sp>
        <p:nvSpPr>
          <p:cNvPr id="32" name="Oval 31"/>
          <p:cNvSpPr/>
          <p:nvPr/>
        </p:nvSpPr>
        <p:spPr>
          <a:xfrm>
            <a:off x="9180576" y="1828800"/>
            <a:ext cx="585216" cy="585216"/>
          </a:xfrm>
          <a:prstGeom prst="ellipse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13848" y="2075688"/>
            <a:ext cx="109728" cy="73152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732520" y="2651760"/>
            <a:ext cx="1481328" cy="228600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15400" y="2761488"/>
            <a:ext cx="11155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3D2E"/>
                </a:solidFill>
                <a:latin typeface="Segoe UI"/>
              </a:rPr>
              <a:t>Compete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154680"/>
            <a:ext cx="111556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333333"/>
                </a:solidFill>
                <a:latin typeface="Segoe UI"/>
              </a:rPr>
              <a:t>Hostel leaderboards, streaks, and campus-wide green weeks.</a:t>
            </a:r>
          </a:p>
        </p:txBody>
      </p:sp>
      <p:sp>
        <p:nvSpPr>
          <p:cNvPr id="37" name="Oval 36"/>
          <p:cNvSpPr/>
          <p:nvPr/>
        </p:nvSpPr>
        <p:spPr>
          <a:xfrm>
            <a:off x="10771632" y="1828800"/>
            <a:ext cx="585216" cy="585216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23576" y="2651760"/>
            <a:ext cx="1481328" cy="228600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06456" y="2761488"/>
            <a:ext cx="11155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3D2E"/>
                </a:solidFill>
                <a:latin typeface="Segoe UI"/>
              </a:rPr>
              <a:t>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06456" y="3154680"/>
            <a:ext cx="111556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333333"/>
                </a:solidFill>
                <a:latin typeface="Segoe UI"/>
              </a:rPr>
              <a:t>Admin gets monthly anonymized campus emission inventory.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B63"/>
                </a:solidFill>
                <a:latin typeface="Segoe UI"/>
              </a:rPr>
              <a:t>Engagement hooks: streaks, weekly impact digest, redeemable green points (canteen/library perks), and a visible 'campus trees saved' counter powered by the whole community.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8E5A"/>
                </a:solidFill>
                <a:latin typeface="Segoe UI"/>
              </a:rPr>
              <a:t>SOLUTION INNOVATION — 30% WEIGHTAGE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3D2E"/>
                </a:solidFill>
                <a:latin typeface="Segoe UI"/>
              </a:rPr>
              <a:t>What Is Innovative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303520" cy="141732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Hyper-local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3333"/>
                </a:solidFill>
                <a:latin typeface="Segoe UI"/>
              </a:rPr>
              <a:t>First calculator to parameterize emission factors per campus (grid region, mess menu, shuttle routes) instead of generic global averages.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141732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6420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Action engine, not just a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3333"/>
                </a:solidFill>
                <a:latin typeface="Segoe UI"/>
              </a:rPr>
              <a:t>Rule-based recommender ranks every possible habit swap by (impact x ease) and delivers exactly 3 per week — behavior-science driven (small wins).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36392"/>
            <a:ext cx="5303520" cy="141732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2461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Social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39312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3333"/>
                </a:solidFill>
                <a:latin typeface="Segoe UI"/>
              </a:rPr>
              <a:t>Hostel/department leagues convert sustainability into a team sport; peer pressure becomes a decarbonization mechanism.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36392"/>
            <a:ext cx="5303520" cy="141732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Institutional feedback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39312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3333"/>
                </a:solidFill>
                <a:latin typeface="Segoe UI"/>
              </a:rPr>
              <a:t>Aggregated data doubles as the campus GHG inventory, giving administration a free reporting tool — adoption incentive.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18304"/>
            <a:ext cx="5303520" cy="141732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82803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Equivalents that resonate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21224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3333"/>
                </a:solidFill>
                <a:latin typeface="Segoe UI"/>
              </a:rPr>
              <a:t>CO2 is abstract; 'your weekend commute = charging 3,400 phones' is not. Campus-specific equivalents make impact tangible.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718304"/>
            <a:ext cx="5303520" cy="141732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82803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Friction-free by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221224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3333"/>
                </a:solidFill>
                <a:latin typeface="Segoe UI"/>
              </a:rPr>
              <a:t>PWA, offline-first, under-60-second logging, auto-filled templates — engineered for real student attention spans and low-end devices.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8E5A"/>
                </a:solidFill>
                <a:latin typeface="Segoe UI"/>
              </a:rPr>
              <a:t>TECHNICAL FEASIBILITY — 25% WEIGHTAGE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3D2E"/>
                </a:solidFill>
                <a:latin typeface="Segoe UI"/>
              </a:rPr>
              <a:t>Why It Is Buildable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E8E5A"/>
                </a:solidFill>
                <a:latin typeface="Segoe UI"/>
              </a:rPr>
              <a:t>•  </a:t>
            </a:r>
            <a:r>
              <a:rPr sz="1500" b="1">
                <a:solidFill>
                  <a:srgbClr val="0B3D2E"/>
                </a:solidFill>
                <a:latin typeface="Segoe UI"/>
              </a:rPr>
              <a:t>Proven components only: — </a:t>
            </a:r>
            <a:r>
              <a:rPr sz="1500">
                <a:solidFill>
                  <a:srgbClr val="333333"/>
                </a:solidFill>
                <a:latin typeface="Segoe UI"/>
              </a:rPr>
              <a:t>web tech, factor-based emission accounting (IPCC Tier-1 style), standard auth — no speculative tech.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E8E5A"/>
                </a:solidFill>
                <a:latin typeface="Segoe UI"/>
              </a:rPr>
              <a:t>•  </a:t>
            </a:r>
            <a:r>
              <a:rPr sz="1500" b="1">
                <a:solidFill>
                  <a:srgbClr val="0B3D2E"/>
                </a:solidFill>
                <a:latin typeface="Segoe UI"/>
              </a:rPr>
              <a:t>Open, citable data: — </a:t>
            </a:r>
            <a:r>
              <a:rPr sz="1500">
                <a:solidFill>
                  <a:srgbClr val="333333"/>
                </a:solidFill>
                <a:latin typeface="Segoe UI"/>
              </a:rPr>
              <a:t>CEA grid factors, MoRTH fuel economy, CPCB waste factors, published LCA datasets — all public.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E8E5A"/>
                </a:solidFill>
                <a:latin typeface="Segoe UI"/>
              </a:rPr>
              <a:t>•  </a:t>
            </a:r>
            <a:r>
              <a:rPr sz="1500" b="1">
                <a:solidFill>
                  <a:srgbClr val="0B3D2E"/>
                </a:solidFill>
                <a:latin typeface="Segoe UI"/>
              </a:rPr>
              <a:t>Reference points: — </a:t>
            </a:r>
            <a:r>
              <a:rPr sz="1500">
                <a:solidFill>
                  <a:srgbClr val="333333"/>
                </a:solidFill>
                <a:latin typeface="Segoe UI"/>
              </a:rPr>
              <a:t>builds on lessons from tools like EPA Carbon Footprint Calculator, WWF Footprint, and campus tools (e.g., IITs' own sustainability audits), adapted for Indian campuses.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E8E5A"/>
                </a:solidFill>
                <a:latin typeface="Segoe UI"/>
              </a:rPr>
              <a:t>•  </a:t>
            </a:r>
            <a:r>
              <a:rPr sz="1500" b="1">
                <a:solidFill>
                  <a:srgbClr val="0B3D2E"/>
                </a:solidFill>
                <a:latin typeface="Segoe UI"/>
              </a:rPr>
              <a:t>MVP in weeks: — </a:t>
            </a:r>
            <a:r>
              <a:rPr sz="1500">
                <a:solidFill>
                  <a:srgbClr val="333333"/>
                </a:solidFill>
                <a:latin typeface="Segoe UI"/>
              </a:rPr>
              <a:t>team can ship logging + engine + dashboard within the hackathon sprint; leaderboards and admin portal follow.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E8E5A"/>
                </a:solidFill>
                <a:latin typeface="Segoe UI"/>
              </a:rPr>
              <a:t>•  </a:t>
            </a:r>
            <a:r>
              <a:rPr sz="1500" b="1">
                <a:solidFill>
                  <a:srgbClr val="0B3D2E"/>
                </a:solidFill>
                <a:latin typeface="Segoe UI"/>
              </a:rPr>
              <a:t>Low cost to run: — </a:t>
            </a:r>
            <a:r>
              <a:rPr sz="1500">
                <a:solidFill>
                  <a:srgbClr val="333333"/>
                </a:solidFill>
                <a:latin typeface="Segoe UI"/>
              </a:rPr>
              <a:t>free-tier hosting for pilot; institute can self-host later on existing servers.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3749039" cy="448056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664208"/>
            <a:ext cx="3383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3D2E"/>
                </a:solidFill>
                <a:latin typeface="Segoe UI"/>
              </a:rPr>
              <a:t>MVP Scope (Round 2 hackathon)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57400"/>
            <a:ext cx="338327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Week 1: emission engine + factor DB, auth.</a:t>
            </a:r>
          </a:p>
          <a:p>
            <a:pPr algn="l">
              <a:lnSpc>
                <a:spcPct val="105000"/>
              </a:lnSpc>
            </a:pPr>
            <a:endParaRPr sz="1250" b="0">
              <a:solidFill>
                <a:srgbClr val="333333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Week 2: habit logger + personal dashboard.</a:t>
            </a:r>
          </a:p>
          <a:p>
            <a:pPr algn="l">
              <a:lnSpc>
                <a:spcPct val="105000"/>
              </a:lnSpc>
            </a:pPr>
            <a:endParaRPr sz="1250" b="0">
              <a:solidFill>
                <a:srgbClr val="333333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Week 3: recommendations + equivalents.</a:t>
            </a:r>
          </a:p>
          <a:p>
            <a:pPr algn="l">
              <a:lnSpc>
                <a:spcPct val="105000"/>
              </a:lnSpc>
            </a:pPr>
            <a:endParaRPr sz="1250" b="0">
              <a:solidFill>
                <a:srgbClr val="333333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Demo: live hostel pilot with 50+ users and an admin report export.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8E5A"/>
                </a:solidFill>
                <a:latin typeface="Segoe UI"/>
              </a:rPr>
              <a:t>SCALABILITY &amp; PRACTICALITY — 25% WEIGHTAGE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3D2E"/>
                </a:solidFill>
                <a:latin typeface="Segoe UI"/>
              </a:rPr>
              <a:t>Scaling Beyond One Campus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2834640" cy="86868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Campus -&gt; multi-campus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581912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Emission factors are configuration, not code: onboarding a new college = new factor pack (grid region, mess, transport) + branding.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42032"/>
            <a:ext cx="2834640" cy="86868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33472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Student -&gt;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569464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Same engine scales to wards/cities by swapping campus templates for citizen templates; factor service already region-aware.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29584"/>
            <a:ext cx="2834640" cy="86868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621024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Architecture scales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557016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Stateless API + pre-computed aggregates keep costs flat; DB indexes on user/time handle 10k-100k users comfortably.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517136"/>
            <a:ext cx="2834640" cy="86868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608576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Sustainable business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544568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Free for students; institute sustainability-office license; CSR/green-fund sponsorship for challenges; no user-data monetization.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504688"/>
            <a:ext cx="2834640" cy="86868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596128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Practical adoption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53212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Start with Prakriti/eco-club pilots -&gt; hostel leagues -&gt; institute-wide via orientation onboarding -&gt; MoU with other colleges via Techniche network.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8E5A"/>
                </a:solidFill>
                <a:latin typeface="Segoe UI"/>
              </a:rPr>
              <a:t>SUSTAINABILITY IMPACT — 20% WEIGHTAGE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3D2E"/>
                </a:solidFill>
                <a:latin typeface="Segoe UI"/>
              </a:rPr>
              <a:t>Sustainability Impact &amp; KPIs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394960" cy="237744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Conservative Impact Model (1 campus, 10,000 users)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5029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3333"/>
                </a:solidFill>
                <a:latin typeface="Segoe UI"/>
              </a:rPr>
              <a:t>If 30% adopt weekly and average just 15% footprint reduction:</a:t>
            </a:r>
          </a:p>
          <a:p>
            <a:pPr algn="l">
              <a:lnSpc>
                <a:spcPct val="105000"/>
              </a:lnSpc>
            </a:pPr>
            <a:endParaRPr sz="1200" b="0">
              <a:solidFill>
                <a:srgbClr val="333333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3333"/>
                </a:solidFill>
                <a:latin typeface="Segoe UI"/>
              </a:rPr>
              <a:t>Baseline approx 2.5 t CO2e/person/year -&gt; ~450 t CO2e avoided annually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3333"/>
                </a:solidFill>
                <a:latin typeface="Segoe UI"/>
              </a:rPr>
              <a:t>= ~20,000 trees' yearly absorption, or 1.8 million EV-km.</a:t>
            </a:r>
          </a:p>
          <a:p>
            <a:pPr algn="l">
              <a:lnSpc>
                <a:spcPct val="105000"/>
              </a:lnSpc>
            </a:pPr>
            <a:endParaRPr sz="1200" b="0">
              <a:solidFill>
                <a:srgbClr val="333333"/>
              </a:solidFill>
              <a:latin typeface="Segoe UI"/>
            </a:endParaRP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3333"/>
                </a:solidFill>
                <a:latin typeface="Segoe UI"/>
              </a:rPr>
              <a:t>Behavioral literature (feedback + social comparison) supports 5-20% reductions — we target the low 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554480"/>
            <a:ext cx="4937760" cy="237744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66420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KPIs We Will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4572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MAU &amp; logging streak rate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% users acting on &gt;=1 recommendation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Average footprint change vs baseline (monthly)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Hostel participation in leagues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3333"/>
                </a:solidFill>
                <a:latin typeface="Segoe UI"/>
              </a:rPr>
              <a:t>Admin report usage for sustainability filings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160520"/>
            <a:ext cx="10652760" cy="201168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270248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2E"/>
                </a:solidFill>
                <a:latin typeface="Segoe UI"/>
              </a:rPr>
              <a:t>SDG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63440"/>
            <a:ext cx="10287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33333"/>
                </a:solidFill>
                <a:latin typeface="Segoe UI"/>
              </a:rPr>
              <a:t>SDG 4 (Quality Education - sustainability literacy)  |  SDG 7 (Affordable &amp; Clean Energy - informed energy use)  |  SDG 11 (Sustainable Cities &amp; Communities)  |  SDG 12 (Responsible Consumption &amp; Production)  |  SDG 13 (Climate Action - personal &amp; institutional decarbonization)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82296" cy="65836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1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8E5A"/>
                </a:solidFill>
                <a:latin typeface="Segoe UI"/>
              </a:rPr>
              <a:t>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3D2E"/>
                </a:solidFill>
                <a:latin typeface="Segoe UI"/>
              </a:rPr>
              <a:t>Roadmap &amp;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310896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Phase 1 - MVP (Aug-Sep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600200"/>
            <a:ext cx="72237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3333"/>
                </a:solidFill>
                <a:latin typeface="Segoe UI"/>
              </a:rPr>
              <a:t>Emission engine + factor database, PWA logging &amp; dashboard, top-3 recommendations, pilot with 1-2 hostels during Techniche.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310896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Phase 2 - Campus Rollout (Oct-Dec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017520"/>
            <a:ext cx="72237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3333"/>
                </a:solidFill>
                <a:latin typeface="Segoe UI"/>
              </a:rPr>
              <a:t>Leaderboards &amp; challenges, admin analytics portal, campus emission report v1, integration with eco-club events.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89120"/>
            <a:ext cx="3108960" cy="123444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Segoe UI"/>
              </a:rPr>
              <a:t>Phase 3 - Scale (2027)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434840"/>
            <a:ext cx="72237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333333"/>
                </a:solidFill>
                <a:latin typeface="Segoe UI"/>
              </a:rPr>
              <a:t>Multi-campus factor packs, API for other colleges, open-source emission-factor registry, institutional licensing.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532120"/>
            <a:ext cx="10652760" cy="91440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641848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3D2E"/>
                </a:solidFill>
                <a:latin typeface="Segoe UI"/>
              </a:rP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6035040"/>
            <a:ext cx="10287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dirty="0">
                <a:solidFill>
                  <a:srgbClr val="333333"/>
                </a:solidFill>
                <a:latin typeface="Segoe UI"/>
              </a:rPr>
              <a:t>[</a:t>
            </a:r>
            <a:r>
              <a:rPr lang="en-US" sz="1200" b="0" dirty="0">
                <a:solidFill>
                  <a:srgbClr val="333333"/>
                </a:solidFill>
                <a:latin typeface="Segoe UI"/>
              </a:rPr>
              <a:t>Mandavi</a:t>
            </a:r>
            <a:r>
              <a:rPr sz="1200" b="0" dirty="0">
                <a:solidFill>
                  <a:srgbClr val="333333"/>
                </a:solidFill>
                <a:latin typeface="Segoe UI"/>
              </a:rPr>
              <a:t>- Full-stack dev]  •  [</a:t>
            </a:r>
            <a:r>
              <a:rPr lang="en-US" sz="1200" dirty="0">
                <a:solidFill>
                  <a:srgbClr val="333333"/>
                </a:solidFill>
                <a:latin typeface="Segoe UI"/>
              </a:rPr>
              <a:t>Gaurav</a:t>
            </a:r>
            <a:r>
              <a:rPr sz="1200" b="0" dirty="0">
                <a:solidFill>
                  <a:srgbClr val="333333"/>
                </a:solidFill>
                <a:latin typeface="Segoe UI"/>
              </a:rPr>
              <a:t> - Data/emission modelling]  •  [</a:t>
            </a:r>
            <a:r>
              <a:rPr lang="en-US" sz="1200" dirty="0">
                <a:solidFill>
                  <a:srgbClr val="333333"/>
                </a:solidFill>
                <a:latin typeface="Segoe UI"/>
              </a:rPr>
              <a:t>Gaurav &amp; Mandavi</a:t>
            </a:r>
            <a:r>
              <a:rPr sz="1200" b="0" dirty="0">
                <a:solidFill>
                  <a:srgbClr val="333333"/>
                </a:solidFill>
                <a:latin typeface="Segoe UI"/>
              </a:rPr>
              <a:t> - UX &amp; content]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651760"/>
            <a:ext cx="1463040" cy="64008"/>
          </a:xfrm>
          <a:prstGeom prst="rect">
            <a:avLst/>
          </a:prstGeom>
          <a:solidFill>
            <a:srgbClr val="F2B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Measure it. Shrink it. Repeat.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8E6D5"/>
                </a:solidFill>
                <a:latin typeface="Segoe UI"/>
              </a:rPr>
              <a:t>CarbonCampus turns every student into a climate actor - one habit at a time.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C8E6D5"/>
                </a:solidFill>
                <a:latin typeface="Segoe UI"/>
              </a:rPr>
              <a:t>Thank you. We look forward to presenting at IIT Guwahati during Techniche.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14633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dirty="0">
                <a:solidFill>
                  <a:srgbClr val="9FC4B2"/>
                </a:solidFill>
                <a:latin typeface="Segoe UI"/>
              </a:rPr>
              <a:t>Avinya 2026 - Prakriti </a:t>
            </a:r>
            <a:r>
              <a:rPr sz="1400" b="0" dirty="0" err="1">
                <a:solidFill>
                  <a:srgbClr val="9FC4B2"/>
                </a:solidFill>
                <a:latin typeface="Segoe UI"/>
              </a:rPr>
              <a:t>EcoInnovate</a:t>
            </a:r>
            <a:r>
              <a:rPr sz="1400" b="0" dirty="0">
                <a:solidFill>
                  <a:srgbClr val="9FC4B2"/>
                </a:solidFill>
                <a:latin typeface="Segoe UI"/>
              </a:rPr>
              <a:t> Challenge  |  </a:t>
            </a:r>
            <a:r>
              <a:rPr lang="en-US" sz="1400" b="0" dirty="0" err="1">
                <a:solidFill>
                  <a:srgbClr val="9FC4B2"/>
                </a:solidFill>
                <a:latin typeface="Segoe UI"/>
              </a:rPr>
              <a:t>EcoGenesis</a:t>
            </a:r>
            <a:endParaRPr sz="1400" b="0" dirty="0">
              <a:solidFill>
                <a:srgbClr val="9FC4B2"/>
              </a:solidFill>
              <a:latin typeface="Segoe UI"/>
            </a:endParaRPr>
          </a:p>
          <a:p>
            <a:pPr algn="l">
              <a:lnSpc>
                <a:spcPct val="130000"/>
              </a:lnSpc>
            </a:pPr>
            <a:r>
              <a:rPr sz="1400" b="0" dirty="0">
                <a:solidFill>
                  <a:srgbClr val="9FC4B2"/>
                </a:solidFill>
                <a:latin typeface="Segoe UI"/>
              </a:rPr>
              <a:t>Contact: </a:t>
            </a:r>
            <a:r>
              <a:rPr lang="en-US" sz="1400" b="0" dirty="0">
                <a:solidFill>
                  <a:srgbClr val="9FC4B2"/>
                </a:solidFill>
                <a:latin typeface="Segoe UI"/>
              </a:rPr>
              <a:t>Gaurav Vyas (</a:t>
            </a:r>
            <a:r>
              <a:rPr lang="en-US" sz="1400" dirty="0">
                <a:solidFill>
                  <a:srgbClr val="9FC4B2"/>
                </a:solidFill>
                <a:latin typeface="Segoe UI"/>
                <a:hlinkClick r:id="rId2"/>
              </a:rPr>
              <a:t>g</a:t>
            </a:r>
            <a:r>
              <a:rPr lang="en-US" sz="1400" b="0" dirty="0">
                <a:solidFill>
                  <a:srgbClr val="9FC4B2"/>
                </a:solidFill>
                <a:latin typeface="Segoe UI"/>
                <a:hlinkClick r:id="rId2"/>
              </a:rPr>
              <a:t>aurav.vyas.1729@gmail.com</a:t>
            </a:r>
            <a:r>
              <a:rPr lang="en-US" sz="1400" b="0" dirty="0">
                <a:solidFill>
                  <a:srgbClr val="9FC4B2"/>
                </a:solidFill>
                <a:latin typeface="Segoe UI"/>
              </a:rPr>
              <a:t>), Mandavi Singh (</a:t>
            </a:r>
            <a:r>
              <a:rPr lang="en-US" sz="1400" b="0" dirty="0">
                <a:solidFill>
                  <a:srgbClr val="9FC4B2"/>
                </a:solidFill>
                <a:latin typeface="Segoe UI"/>
                <a:hlinkClick r:id="rId3"/>
              </a:rPr>
              <a:t>singhmandavi002@gmail.com</a:t>
            </a:r>
            <a:r>
              <a:rPr lang="en-US" sz="1400" b="0" dirty="0">
                <a:solidFill>
                  <a:srgbClr val="9FC4B2"/>
                </a:solidFill>
                <a:latin typeface="Segoe UI"/>
              </a:rPr>
              <a:t>)</a:t>
            </a:r>
            <a:r>
              <a:rPr sz="1400" b="0" dirty="0">
                <a:solidFill>
                  <a:srgbClr val="9FC4B2"/>
                </a:solidFill>
                <a:latin typeface="Segoe UI"/>
              </a:rPr>
              <a:t>  •  </a:t>
            </a:r>
            <a:endParaRPr lang="en-US" sz="1400" b="0" dirty="0">
              <a:solidFill>
                <a:srgbClr val="9FC4B2"/>
              </a:solidFill>
              <a:latin typeface="Segoe UI"/>
            </a:endParaRPr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9FC4B2"/>
                </a:solidFill>
                <a:latin typeface="Segoe UI"/>
              </a:rPr>
              <a:t>Demo link: Repo: </a:t>
            </a:r>
            <a:r>
              <a:rPr lang="en-US" sz="1400" dirty="0">
                <a:solidFill>
                  <a:srgbClr val="9FC4B2"/>
                </a:solidFill>
                <a:latin typeface="Segoe UI"/>
                <a:hlinkClick r:id="rId4"/>
              </a:rPr>
              <a:t>https://github.com/realgauravvyas/carboncampus</a:t>
            </a:r>
            <a:endParaRPr lang="en-US" sz="1400" dirty="0">
              <a:solidFill>
                <a:srgbClr val="9FC4B2"/>
              </a:solidFill>
              <a:latin typeface="Segoe UI"/>
            </a:endParaRPr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9FC4B2"/>
                </a:solidFill>
                <a:latin typeface="Segoe UI"/>
              </a:rPr>
              <a:t>Live demo: </a:t>
            </a:r>
            <a:r>
              <a:rPr lang="en-US" sz="1400" dirty="0">
                <a:solidFill>
                  <a:srgbClr val="9FC4B2"/>
                </a:solidFill>
                <a:latin typeface="Segoe UI"/>
                <a:hlinkClick r:id="rId5"/>
              </a:rPr>
              <a:t>https://realgauravvyas.github.io/carboncampus/</a:t>
            </a:r>
            <a:endParaRPr lang="en-US" sz="1400" dirty="0">
              <a:solidFill>
                <a:srgbClr val="9FC4B2"/>
              </a:solidFill>
              <a:latin typeface="Segoe UI"/>
            </a:endParaRPr>
          </a:p>
          <a:p>
            <a:pPr>
              <a:lnSpc>
                <a:spcPct val="130000"/>
              </a:lnSpc>
            </a:pPr>
            <a:endParaRPr lang="en-US" sz="1400" dirty="0">
              <a:solidFill>
                <a:srgbClr val="9FC4B2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2051</Words>
  <Application>Microsoft Office PowerPoint</Application>
  <PresentationFormat>Widescreen</PresentationFormat>
  <Paragraphs>184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Gaurav Vyas</dc:creator>
  <cp:keywords/>
  <dc:description>generated using python-pptx</dc:description>
  <cp:lastModifiedBy>Gaurav Vyas</cp:lastModifiedBy>
  <cp:revision>4</cp:revision>
  <dcterms:created xsi:type="dcterms:W3CDTF">2013-01-27T09:14:16Z</dcterms:created>
  <dcterms:modified xsi:type="dcterms:W3CDTF">2026-08-20T18:20:01Z</dcterms:modified>
  <cp:category/>
</cp:coreProperties>
</file>